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62280b6bc4317" /><Relationship Type="http://schemas.openxmlformats.org/officeDocument/2006/relationships/extended-properties" Target="/docProps/app.xml" Id="R2c6b62e6ead44b19" /><Relationship Type="http://schemas.openxmlformats.org/officeDocument/2006/relationships/officeDocument" Target="/ppt/presentation.xml" Id="Rb83403e21fe742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d4920732d4089"/>
  </p:sldMasterIdLst>
  <p:notesMasterIdLst>
    <p:notesMasterId xmlns:r="http://schemas.openxmlformats.org/officeDocument/2006/relationships" r:id="R2033fad9a6e543d7"/>
  </p:notesMasterIdLst>
  <p:sldIdLst>
    <p:sldId xmlns:r="http://schemas.openxmlformats.org/officeDocument/2006/relationships" id="256" r:id="R9ddf75c686314430"/>
    <p:sldId xmlns:r="http://schemas.openxmlformats.org/officeDocument/2006/relationships" id="257" r:id="Ra6f759c53dda4dd0"/>
    <p:sldId xmlns:r="http://schemas.openxmlformats.org/officeDocument/2006/relationships" id="258" r:id="R0fdf5744c8b849c3"/>
    <p:sldId xmlns:r="http://schemas.openxmlformats.org/officeDocument/2006/relationships" id="259" r:id="R1f49b70f534f4f76"/>
    <p:sldId xmlns:r="http://schemas.openxmlformats.org/officeDocument/2006/relationships" id="260" r:id="R5f04602664494ec3"/>
    <p:sldId xmlns:r="http://schemas.openxmlformats.org/officeDocument/2006/relationships" id="261" r:id="R57e6f2acd7564b1b"/>
    <p:sldId xmlns:r="http://schemas.openxmlformats.org/officeDocument/2006/relationships" id="262" r:id="R72e34eb3b5ca4302"/>
    <p:sldId xmlns:r="http://schemas.openxmlformats.org/officeDocument/2006/relationships" id="263" r:id="R2ab4ead3523b4545"/>
    <p:sldId xmlns:r="http://schemas.openxmlformats.org/officeDocument/2006/relationships" id="264" r:id="R6976997ab66b4432"/>
    <p:sldId xmlns:r="http://schemas.openxmlformats.org/officeDocument/2006/relationships" id="265" r:id="R08833f6143304f8d"/>
    <p:sldId xmlns:r="http://schemas.openxmlformats.org/officeDocument/2006/relationships" id="266" r:id="R85d09e8066794d36"/>
    <p:sldId xmlns:r="http://schemas.openxmlformats.org/officeDocument/2006/relationships" id="267" r:id="R569da06c972e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1961bb9be4a94" /><Relationship Type="http://schemas.openxmlformats.org/officeDocument/2006/relationships/slideMaster" Target="/ppt/slideMasters/slideMaster1.xml" Id="R3e0d4920732d4089" /><Relationship Type="http://schemas.openxmlformats.org/officeDocument/2006/relationships/notesMaster" Target="/ppt/notesMasters/notesMaster1.xml" Id="R2033fad9a6e543d7" /><Relationship Type="http://schemas.openxmlformats.org/officeDocument/2006/relationships/presProps" Target="/ppt/presProps.xml" Id="R416190f0a15249d7" /><Relationship Type="http://schemas.openxmlformats.org/officeDocument/2006/relationships/tableStyles" Target="/ppt/tableStyles.xml" Id="Re0f53cd16ba94ba6" /><Relationship Type="http://schemas.openxmlformats.org/officeDocument/2006/relationships/slide" Target="/ppt/slides/slide1.xml" Id="R9ddf75c686314430" /><Relationship Type="http://schemas.openxmlformats.org/officeDocument/2006/relationships/slide" Target="/ppt/slides/slide2.xml" Id="Ra6f759c53dda4dd0" /><Relationship Type="http://schemas.openxmlformats.org/officeDocument/2006/relationships/slide" Target="/ppt/slides/slide3.xml" Id="R0fdf5744c8b849c3" /><Relationship Type="http://schemas.openxmlformats.org/officeDocument/2006/relationships/slide" Target="/ppt/slides/slide4.xml" Id="R1f49b70f534f4f76" /><Relationship Type="http://schemas.openxmlformats.org/officeDocument/2006/relationships/slide" Target="/ppt/slides/slide5.xml" Id="R5f04602664494ec3" /><Relationship Type="http://schemas.openxmlformats.org/officeDocument/2006/relationships/slide" Target="/ppt/slides/slide6.xml" Id="R57e6f2acd7564b1b" /><Relationship Type="http://schemas.openxmlformats.org/officeDocument/2006/relationships/slide" Target="/ppt/slides/slide7.xml" Id="R72e34eb3b5ca4302" /><Relationship Type="http://schemas.openxmlformats.org/officeDocument/2006/relationships/slide" Target="/ppt/slides/slide8.xml" Id="R2ab4ead3523b4545" /><Relationship Type="http://schemas.openxmlformats.org/officeDocument/2006/relationships/slide" Target="/ppt/slides/slide9.xml" Id="R6976997ab66b4432" /><Relationship Type="http://schemas.openxmlformats.org/officeDocument/2006/relationships/slide" Target="/ppt/slides/slide10.xml" Id="R08833f6143304f8d" /><Relationship Type="http://schemas.openxmlformats.org/officeDocument/2006/relationships/slide" Target="/ppt/slides/slide11.xml" Id="R85d09e8066794d36" /><Relationship Type="http://schemas.openxmlformats.org/officeDocument/2006/relationships/slide" Target="/ppt/slides/slide12.xml" Id="R569da06c972e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691f87b99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43d0bf61644bf" /><Relationship Type="http://schemas.openxmlformats.org/officeDocument/2006/relationships/notesMaster" Target="/ppt/notesMasters/notesMaster1.xml" Id="R5c29bc976d3b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ae16a0171140b2" /><Relationship Type="http://schemas.openxmlformats.org/officeDocument/2006/relationships/notesMaster" Target="/ppt/notesMasters/notesMaster1.xml" Id="R323bb707f722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cb85792554c97" /><Relationship Type="http://schemas.openxmlformats.org/officeDocument/2006/relationships/notesMaster" Target="/ppt/notesMasters/notesMaster1.xml" Id="R4745f775d602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3ee46b06a4792" /><Relationship Type="http://schemas.openxmlformats.org/officeDocument/2006/relationships/notesMaster" Target="/ppt/notesMasters/notesMaster1.xml" Id="R0c942963870a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4b5e0b2e44a7a" /><Relationship Type="http://schemas.openxmlformats.org/officeDocument/2006/relationships/notesMaster" Target="/ppt/notesMasters/notesMaster1.xml" Id="R1bd2612ff1b9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cb15d3236946da" /><Relationship Type="http://schemas.openxmlformats.org/officeDocument/2006/relationships/notesMaster" Target="/ppt/notesMasters/notesMaster1.xml" Id="R00ddaaee4dff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079be4f9f949a5" /><Relationship Type="http://schemas.openxmlformats.org/officeDocument/2006/relationships/notesMaster" Target="/ppt/notesMasters/notesMaster1.xml" Id="R176c6e0c0458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3e0ca9a43a4093" /><Relationship Type="http://schemas.openxmlformats.org/officeDocument/2006/relationships/notesMaster" Target="/ppt/notesMasters/notesMaster1.xml" Id="Rd8d8ac2adb1a41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7a9fd9b25b4a60" /><Relationship Type="http://schemas.openxmlformats.org/officeDocument/2006/relationships/notesMaster" Target="/ppt/notesMasters/notesMaster1.xml" Id="Rb2c777041104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28a37011f4df0" /><Relationship Type="http://schemas.openxmlformats.org/officeDocument/2006/relationships/notesMaster" Target="/ppt/notesMasters/notesMaster1.xml" Id="R0a55ade8eb3d4e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828206de8f473e" /><Relationship Type="http://schemas.openxmlformats.org/officeDocument/2006/relationships/notesMaster" Target="/ppt/notesMasters/notesMaster1.xml" Id="Ra4c21b6f870643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95451b67dd405d" /><Relationship Type="http://schemas.openxmlformats.org/officeDocument/2006/relationships/notesMaster" Target="/ppt/notesMasters/notesMaster1.xml" Id="R11583db7b3a54e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Nyitódia. A jobb oldali illusztráció mesterségesen generált, nem valós felhasználói adatokat ábrázol.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egyedi illusztráció ehhez a bemutatóhoz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táblázatban szereplő időpontok és egyenlegek szemléltető adatok.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grafikon és az éves KPI szemléltető példa, nem valós felhasználói adat.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Munkaidő-nyilvántartó v1.3.0 README és alkalmazásforrás, https://github.com/Nicqx/munkaido-nyilvantarto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6f6798e7b42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057f3eca14c5d" /><Relationship Type="http://schemas.openxmlformats.org/officeDocument/2006/relationships/slideLayout" Target="/ppt/slideLayouts/slideLayout1.xml" Id="R2bb2f5e80059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2f5e80059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c83bd25a4aa6" /><Relationship Type="http://schemas.openxmlformats.org/officeDocument/2006/relationships/image" Target="/ppt/media/image.png" Id="Rd858f592bbde4cae" /><Relationship Type="http://schemas.openxmlformats.org/officeDocument/2006/relationships/notesSlide" Target="/ppt/notesSlides/notesSlide1.xml" Id="Ra67478cb66cc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0396dbe24a38" /><Relationship Type="http://schemas.openxmlformats.org/officeDocument/2006/relationships/notesSlide" Target="/ppt/notesSlides/notesSlide2.xml" Id="Rdaa54bad80fb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2277f7dcf4634" /><Relationship Type="http://schemas.openxmlformats.org/officeDocument/2006/relationships/notesSlide" Target="/ppt/notesSlides/notesSlide3.xml" Id="R8ee5bb65d60147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74bd06e64b88" /><Relationship Type="http://schemas.openxmlformats.org/officeDocument/2006/relationships/notesSlide" Target="/ppt/notesSlides/notesSlide4.xml" Id="R5ec4c4beb4564d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0251a1bca492c" /><Relationship Type="http://schemas.openxmlformats.org/officeDocument/2006/relationships/notesSlide" Target="/ppt/notesSlides/notesSlide5.xml" Id="R340e8dfea891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03ed2d9b24216" /><Relationship Type="http://schemas.openxmlformats.org/officeDocument/2006/relationships/notesSlide" Target="/ppt/notesSlides/notesSlide6.xml" Id="R6d38ac5a5b9b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29dec4a8e425a" /><Relationship Type="http://schemas.openxmlformats.org/officeDocument/2006/relationships/notesSlide" Target="/ppt/notesSlides/notesSlide7.xml" Id="R5a0c769c3a68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dbde9550748ac" /><Relationship Type="http://schemas.openxmlformats.org/officeDocument/2006/relationships/notesSlide" Target="/ppt/notesSlides/notesSlide8.xml" Id="Rd013254c8ac744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761e17f04e05" /><Relationship Type="http://schemas.openxmlformats.org/officeDocument/2006/relationships/notesSlide" Target="/ppt/notesSlides/notesSlide9.xml" Id="R810bacade72a4a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39bd4e8e64b61" /><Relationship Type="http://schemas.openxmlformats.org/officeDocument/2006/relationships/notesSlide" Target="/ppt/notesSlides/notesSlide10.xml" Id="R60eb37f576c149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12bbb224b40c9" /><Relationship Type="http://schemas.openxmlformats.org/officeDocument/2006/relationships/notesSlide" Target="/ppt/notesSlides/notesSlide11.xml" Id="Rbd56a45f395140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392d4bf374712" /><Relationship Type="http://schemas.openxmlformats.org/officeDocument/2006/relationships/notesSlide" Target="/ppt/notesSlides/notesSlide12.xml" Id="R03ed2d15125a48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6D48E-75E6-498C-BEDC-5BE48E9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F699F-5258-455E-99E1-6713F3E9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2286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38A80-B75D-4790-BAA7-3095C3E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FELHASZNÁLÓI ÚTMUTATÓ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D27CE-25BA-4F3B-B2E3-B3D5B473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28725"/>
            <a:ext cx="5143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Munkaidő-</a:t>
            </a:r>
          </a:p>
          <a:p xmlns:a="http://schemas.openxmlformats.org/drawingml/2006/main">
            <a:pPr algn="l">
              <a:defRPr sz="510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nyilvántartó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65B62-2921-4C59-8314-5467711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Érkezés, távozás, szabadság, túlóra és Excel-kezelés — egy helyen.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28650" y="463867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1E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36890-7854-464C-B090-BCE8032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Mobilra optimalizált napi rögzítés · részletes gépes elemzés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60625-FDE8-4542-B8DB-57E80801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v1.3.0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20B17-5FD7-4ED6-8CD4-82A6629B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"/>
            <a:ext cx="5657850" cy="5753100"/>
          </a:xfrm>
          <a:prstGeom xmlns:a="http://schemas.openxmlformats.org/drawingml/2006/main" prst="roundRect">
            <a:avLst>
              <a:gd name="adj" fmla="val 1347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8f592bbde4cae"/>
          <a:stretch xmlns:a="http://schemas.openxmlformats.org/drawingml/2006/main"/>
        </p:blipFill>
        <p:spPr>
          <a:xfrm xmlns:a="http://schemas.openxmlformats.org/drawingml/2006/main">
            <a:off x="6248400" y="1149350"/>
            <a:ext cx="5219700" cy="434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4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5B276-0B80-43A8-BA84-D3667F7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Egy helyen látszik a munkaidő, a szabadság és az egyenleg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FCD16-C6CC-49D0-AEC1-4D6082E8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296DF-D66B-422B-89F6-D03BFA88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CC0C-6AC3-4CB7-8EED-61639A7A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04766-76B7-44C4-86AA-C4F929B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92A22-92BF-4755-BBDD-8C4A9F61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Napi időrögzítés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59919-C725-48B3-AF4A-9DDCD28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Érkezés és távozás másodperc pontossággal, kézzel vagy a Most gombokkal.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028950" y="21145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9F775-2FD4-4C59-BAB1-D2C94F26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478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C74A5-8DA5-4443-AF1B-E63F6DE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3842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Kint töltött idő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8D4BC-E703-49C2-AA34-EE0E46E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Kiszaladok és Visszaértem gomb összesíti a megszakítások idejét.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848350" y="21145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675E8-F5BE-4FBF-8E76-4CE4157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E361B-1EC1-4353-ACFA-3F4FBDD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Szabadság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4DA55-44FF-4500-916E-AE418DEC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Teljes és fél nap is rögzíthető, éves kerettel és hátralévő egyenleggel.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667750" y="21145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A4265-27D4-4119-96AE-4B626375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478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C3067-F354-429D-ACC2-B6E71F2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3842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6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Statisztika és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F9F33-9827-4A4A-927A-65D5DB01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Havi–éves túlóra, korábbi napok javítása, export és visszaimport.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AB89B-8504-4B90-86E4-90DFD146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solidFill>
              <a:srgbClr val="EEF5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5FEFC-12F0-44D1-83A1-3E5712A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Ledolgozott idő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5F208-7537-43A8-93C3-3CD9019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62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E9F94-2300-4061-8221-7B53F23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81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Távozás − érkezés − kint töltött idő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A9531-1728-4E33-B934-00E5015D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8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Túlóra-egyenleg = ledolgozott idő − elvárt idő</a:t>
            </a:r>
          </a:p>
        </p:txBody>
      </p:sp>
    </p:spTree>
    <p:extLst>
      <p:ext uri="{BB962C8B-B14F-4D97-AF65-F5344CB8AC3E}">
        <p14:creationId xmlns:p14="http://schemas.microsoft.com/office/powerpoint/2010/main" val="194779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F60EC-03D2-4996-95BA-FEF3624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88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belépés után minden funkció elérhető a felső menüből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62133-D3DE-4B74-84AB-4DF8227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B7D6B-5105-46F8-A312-60100A23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BE4B6-A801-4CDF-AD7F-E5A57D4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9729B-9544-42B2-AD32-2FA1748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5243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1CF0D-0049-4B62-AD05-23AB933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81DF6-7C60-49FB-81CD-01076746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ELSŐ BELÉPÉS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48490-ABBD-432E-9C06-236E1FF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88F5B-B336-4FC9-BA78-D3B8AE92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6E973-07DF-4118-A546-D4DA32F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Nyisd meg a webcímet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4538-9549-4B57-A8FE-6C9CF5A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böngészőben telefonról vagy számítógépről.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CEE6F-96BC-4CAE-8C30-A59463F4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C7DE4-69A6-4F01-B808-D8EE90AB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6CA1A-2FE1-4E69-A18C-F8D1ABCA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Regisztrálj vagy lépj 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6A6A1-CB8C-4B53-BF23-FE339042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Azonosító: e-mail-cím és jelszó.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3B2F8-C767-403C-AF05-6B7407C6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D5741-C7D8-4F6B-A696-DAAA3254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EADCD-39E5-44E0-A2B0-F8E5753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Módosítsd a jelszavad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8723D-F536-4309-9A81-47313D1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saját fiókban bármikor megteheted.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F1A99-30B0-4D0C-B654-0E7B9D8D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02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Fő menüpontok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5495925" y="3209925"/>
            <a:ext cx="57816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72DAE-0071-41C6-96F5-E53767F7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289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766B1-F563-44A2-9DA1-7F2302B9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47950"/>
            <a:ext cx="3800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aznapi gyors rögzítés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495925" y="3952875"/>
            <a:ext cx="57816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0E32B-8A26-4FA2-B893-65ED1D4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718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Előzmények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4B579-3D5B-460C-9C6E-AB333ED0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90900"/>
            <a:ext cx="3800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Régebbi napok keresése és javítása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5495925" y="4695825"/>
            <a:ext cx="57816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B8021-6132-4E13-8F70-CC35973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148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Statisztika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15528-97C7-4A33-BE42-319DC28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33850"/>
            <a:ext cx="3800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Havi és éves összesítések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5495925" y="5438775"/>
            <a:ext cx="57816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E1E6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27181-F020-42AF-B9BF-0B28A10B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577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Beállítások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6CFD4-D386-44E4-89D2-F9C5515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76800"/>
            <a:ext cx="3800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Jelszó, beosztás és szabadságkeret</a:t>
            </a:r>
          </a:p>
        </p:txBody>
      </p:sp>
    </p:spTree>
    <p:extLst>
      <p:ext uri="{BB962C8B-B14F-4D97-AF65-F5344CB8AC3E}">
        <p14:creationId xmlns:p14="http://schemas.microsoft.com/office/powerpoint/2010/main" val="2103284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07097-472F-451E-8823-C232AFF4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Az aznapi rögzítéshez két gyorsgomb is elég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B6BC-3801-4F46-B576-FAB957A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20C07-905F-4EFE-917E-5DFB62BF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FB0D8-0575-4C7E-80EA-F15F9A7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162050" y="2714625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E1E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8FB3C-13F7-42F9-AE3F-C423AD8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819AE-4C3C-45D5-8617-CAAE077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3053-9A67-4EA4-9891-19DA4AE1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Megérkeztem most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D9739-A2E8-4A58-BAFB-B054233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251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rendszer azonnal elmenti az aktuális érkezési időt.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B976-1100-474A-A4BD-0632D5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EE483-B9AF-489A-BDA2-B8E50AA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053AF-8FC9-4286-9B04-497089BD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908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Napközbeni teendők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832C1-8DD2-4DF4-BACE-4C20093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19525"/>
            <a:ext cx="251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Ha elmész, használd a Kiszaladok gombot; visszatéréskor zárd 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8DFA9-3A35-4236-9B5A-648291D3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ED68D-C6D1-47F0-AA4D-EE5B67A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8D68C-A563-4AD8-B1AB-05E3D93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908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Távoztam most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D8DA5-859E-43C5-A89F-0D7AFF0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9525"/>
            <a:ext cx="251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távozás mentése után az egyenleg automatikusan frissül.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11319-38F1-4212-B7BD-C9BA1BCE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619250" cy="29337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46078-1F5D-421A-A00B-8D483E78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CD240-19A1-4C97-8726-FD33EC9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479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ALTERNATÍVA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C210B-8BDB-4CB3-8C6C-C9240777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Kézi bevitel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B4B1B-1608-4D2B-88F2-E8D9B43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67125"/>
            <a:ext cx="123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Dátum</a:t>
            </a:r>
          </a:p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óra : perc : másodperc</a:t>
            </a:r>
          </a:p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megjegyzés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6D845-6C0D-46DA-A0E6-3EE2969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A7783-C876-413F-9CF7-CFF4F47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Tipp: reggel csak az érkezést mentsd el; ugyanazt a napot este a távozással egészítsd ki.</a:t>
            </a:r>
          </a:p>
        </p:txBody>
      </p:sp>
    </p:spTree>
    <p:extLst>
      <p:ext uri="{BB962C8B-B14F-4D97-AF65-F5344CB8AC3E}">
        <p14:creationId xmlns:p14="http://schemas.microsoft.com/office/powerpoint/2010/main" val="1097405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0333B-A6F1-4C3F-94A4-BC99723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51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Kiszaladok gomb csak az összes kint töltött időt gyűjti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39031-7438-44E7-B225-BC382DE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3B73E-BEEB-4748-B6B1-C4291CD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1206-8F52-4CA2-9611-914F843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93DC8-56F3-407B-B1F4-F2A45FC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részletes indulási és visszaérkezési idő helyett a napi levonás marad meg.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D006E-2BC2-405F-AFA4-780EC9B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08204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476375" y="3552825"/>
            <a:ext cx="823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A7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AA854-02DF-4923-9F55-F8A93101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77E23-EFA2-4C24-B774-3B63BCF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62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E66B2-0B4B-4545-99F0-12DFF8A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Kiszaladok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ED891-A6B0-4DBC-B963-1504FBA3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624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számláló elindul.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D3430-3658-4E34-84E9-F9EE15F1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2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95FC5-28E2-4B3F-BA6F-07F7B59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62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12BBD-65B5-4667-B916-D030C34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52725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Kint vagy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806BF-CEC5-407F-8540-3014D35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idő folyamatosan gyűlik.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778B7-D2E2-4501-AEA6-91BF9F9E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DF02C-7595-431C-BCDC-2613D50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53A24-49AC-48F6-BBB8-1A11737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52725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Visszaértem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FD472-78A7-4E65-A9A1-E3457472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624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szünet lezárul.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0A9E6-7E71-45E8-B7D3-84B8EF2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24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48E10-33BE-4D16-A8FD-20805CE4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62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D451-9234-4EE4-8F4A-61E09D5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52725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Automatikus levonás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E186C-DD44-4884-A844-6BB80BD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624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napi ledolgozott időből levonódik.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E5CD6-8ED5-4A8B-BA7A-2341C34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3CAAB-2EB4-453E-9095-6F9C00B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A nap során többször is használható.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563CA-E857-4731-8043-DA0A131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rendszer az összes megszakítást összeadja.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76EDF-B47E-4CD8-A162-E4EDEB6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537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794B8-29D6-4418-BC8F-77FA5D2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911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17A0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C17A00"/>
                </a:solidFill>
                <a:latin typeface="Aptos"/>
                <a:ea typeface="Aptos"/>
                <a:cs typeface="Aptos"/>
              </a:rPr>
              <a:t>Ebédszünetet nem von le automatikusan.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6CB46-41AA-415C-A416-C3BE58C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Csak a gombbal rögzített kint töltött idő számít.</a:t>
            </a:r>
          </a:p>
        </p:txBody>
      </p:sp>
    </p:spTree>
    <p:extLst>
      <p:ext uri="{BB962C8B-B14F-4D97-AF65-F5344CB8AC3E}">
        <p14:creationId xmlns:p14="http://schemas.microsoft.com/office/powerpoint/2010/main" val="1858325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AD3587-4424-4D13-B511-BC217B4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szabadság nem torzítja a túlóra-egyenleget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D2FA2-C9C4-46DE-BEAB-69C52D4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DB4BB-4C3E-4F0A-9B6C-A55D2AC3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EF1C-71D3-4892-A8F1-DBA639DA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51D6A-EAA3-495E-8218-EFC350D2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szabadság típusa dönti el, mennyi az aznapi elvárt munkaidő.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4BB56-A4E4-4591-8260-B79F911A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7E0D7-33B7-49C6-AB37-0B7DA137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Típus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41A6C-54AA-40E5-B27F-3A26953A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5F7BF-D45D-42FE-8EE9-B917102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Aznap beírandó idő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79A88-1E6A-44FA-860B-7CF25CC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0C2A6-3C09-4B1E-A4AB-ED4C80D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Hatás az elvárt időre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D2B6C-EAAA-4122-A9FB-F411287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A104D-0EE3-40D3-BCA9-BCC2890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Szabadságkeret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9218E-8678-46F3-B5E8-F64B5FF3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0519D-5F03-431B-8A28-D84F4FD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Teljes nap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6C7E-55FA-4671-9F0D-26F478BA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ACE08-1CBD-42C3-9D9C-8DDCAD3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57525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Nem kell érkezés/távozás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9EBC-1CEC-42B2-9F6F-E69FDFF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5719E-2FCC-4B85-B461-1EF5400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57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Aznap nem számol egyenleget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6E152-0282-4B48-8F91-354E5EB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11CE-84C6-4767-B33A-46236FAD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7525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−1 nap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7393A-6E63-46A5-AA0A-511FE3E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58058-CE15-49FD-B026-FCFC7BD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Fél nap · délelőtt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2EECE-5FEE-4D69-B9F9-2353D721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004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0B8A3-FB40-45E4-9F6D-216BA1EF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ledolgozott fél nap rögzítendő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9DAEC-8309-463E-BDA0-1BC81F5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004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FE7C1-4D02-40FF-82C2-2D40878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napi elvárás fele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DB6D0-E9DA-4CE2-8154-2D438B1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A389D-41B3-4D59-82A8-D9603E5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62375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−0,5 nap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49597-6F69-4CA6-9B3E-CECD0FCD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1772A-E36E-40A7-86D0-87C429A6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Fél nap · délután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01C13-03FC-4B1E-A8A3-382BF717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053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B73A42-EDBE-4563-9C32-8D1EA045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67225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ledolgozott fél nap rögzítendő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F85D7E-105A-486B-9B4D-D13C69C5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84A4C2-0A2C-4669-8EB2-F6514FC2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672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napi elvárás fele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52966-24A9-443A-A90C-F488FDE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2D4CBF-3F24-482D-B12F-AA86AE3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7225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−0,5 nap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E8A730-7400-4096-9C2F-DBBA5CB6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D0CD6F-36C4-4E82-BCB8-6032B375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Éves keret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101436-9DF8-4AEB-81E3-31E254D6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beállított napokból a rendszer automatikusan mutatja a felhasznált és a még kivehető szabadságot.</a:t>
            </a:r>
          </a:p>
        </p:txBody>
      </p:sp>
    </p:spTree>
    <p:extLst>
      <p:ext uri="{BB962C8B-B14F-4D97-AF65-F5344CB8AC3E}">
        <p14:creationId xmlns:p14="http://schemas.microsoft.com/office/powerpoint/2010/main" val="456697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42D9D-A0F4-41FE-8BC5-6606EC5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saját beosztás vezérli az elvárt munkaidőt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491E8-CA51-4835-B22F-6EC2FE5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1245E-ACDA-4970-B0DF-DB5F264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26513-D438-4A72-818F-37FC416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56C41-9B11-425A-BC4F-8426F4DD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197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AE143-AFF0-447C-B8CC-549C6FF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210AC-AEA8-4AF4-8C00-9747660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BEOSZTÁS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E595D-7C97-4983-8B39-4FDE3117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Felhasználónként eltérhet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483DF-30D0-48E0-83E8-CA31C51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16DBB-F1F1-4BA0-9CAF-5531B96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575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Napok és óraszámok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3B28A-30D8-4E48-8B1E-D76DCD5A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Minden hétköznaphoz — és akár hétvégéhez — külön elvárt idő adható.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12073-D0C3-4713-AB11-21EB2AF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5B78E-4668-4D6E-8152-B24B23EC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100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Alap érkezés és távozás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0312E-072A-4C13-9199-6CF380C2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52975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heti pótlás ezekkel az időkkel tölti fel az üres napokat.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A6821-D596-4E3B-96DD-38D5EB25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2266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D66D0-2C47-4C73-9A2B-725E7525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7A0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17A00"/>
                </a:solidFill>
                <a:latin typeface="Aptos"/>
                <a:ea typeface="Aptos"/>
                <a:cs typeface="Aptos"/>
              </a:rPr>
              <a:t>ÁTHELYEZETT SZOMBAT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0606A-1E93-44D0-97C8-06131D8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8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eredeti munkanap szabályait örökli.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2EC71-988A-4AAB-9953-651DEF1C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71675"/>
            <a:ext cx="53721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B18BB-C42C-4583-80D3-93B449E1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466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BC7BF-08EE-45CF-A65D-B1679E87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HETI PÓTLÁS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A23F4-29B9-4991-9549-5265FC51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Üres napok feltöltése egy gombbal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08D60-04B6-4217-820E-CA04A9CC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Kitölti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C9AC2-CA52-4BAD-82CD-0B7E7052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43325"/>
            <a:ext cx="3409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kiválasztott hét múltbeli és mai munkanapjait az alapidőkkel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11073-EA7A-420D-A9E4-6E339F1A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Nem írja felül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2EE1A-DB54-4A6F-B62C-E805BCF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7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meglévő, részleges, szabadságos, ünnep- vagy pihenőnapos bejegyzéseket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E9402-B9A4-4751-85B5-B119157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Határ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59DBE-F22A-41F7-9764-1295C880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2447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csak a mai napig tölt, jövőbeli időt nem készít</a:t>
            </a:r>
          </a:p>
        </p:txBody>
      </p:sp>
    </p:spTree>
    <p:extLst>
      <p:ext uri="{BB962C8B-B14F-4D97-AF65-F5344CB8AC3E}">
        <p14:creationId xmlns:p14="http://schemas.microsoft.com/office/powerpoint/2010/main" val="1526297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3EF7F-9E8D-4A09-A68E-0F92F66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korábbi napok bármikor javíthatók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8DD1F-7F15-4A2A-BBF2-BFE1C686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2433E-61EB-46D9-96C1-0963AE18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D931B-B98C-445D-8F1B-C5EAFFF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E0671-03B2-4EC7-9F3A-E5F9371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4295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3F06C-7E94-418C-B661-768FC87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42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9341-1340-4DDF-A235-3D5B2967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Dátum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D7EDE-2D2D-4CAA-8385-E93BD0B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240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Érkezés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F3CC-9959-4101-A5A4-4596FE63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240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Távozás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47851-B717-4CD8-9A9F-3B166870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24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Napi egyenleg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1946-FA0A-447F-97F8-4EDC5A6D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28C9E-1058-4486-BFBC-C798A05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2026. 09. 01.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11647-4389-427D-8FB1-59D255A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717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08:02:14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D76F0-3367-4928-9049-A3CBCE5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717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16:31:08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9618F-F19B-446F-A6E8-C583850E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71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+00:29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F58FC-0767-4849-A137-6A58E46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7872E-5341-478D-B834-8A137CB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2026. 09. 02.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88024-24B8-495D-8972-A25BD074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95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07:58:46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23246-050B-4E6F-8D51-6060C84C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95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16:06:20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AD18D-479F-4942-8313-B8648F08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95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+00:07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149B4-A2FA-49C8-8B49-8037285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55925-D58C-4806-A977-6EF4258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2026. 09. 03.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1C2BF-07B5-4F7E-ACE4-C836C29C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195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08:11:03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FE94E-6DD7-4E24-BDB9-0C3B1AB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195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15:58:40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B8F23-FCAD-4808-A855-8566FC9F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−00:12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F8D74-4178-4A48-900F-99B6CBA9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26CF6-F5B2-4D4B-9285-921605F2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2026. 09. 04.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B2CA7-552C-493D-89E5-12E8D21D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Szabadság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0952EC-62BE-4D8E-8EE1-040F6A2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163F1-A1A5-4A65-BE1C-9E59FF77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43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318C3-70FA-454A-B39F-081C4C59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8707E"/>
                </a:solidFill>
                <a:latin typeface="Aptos"/>
                <a:ea typeface="Aptos"/>
                <a:cs typeface="Aptos"/>
              </a:rPr>
              <a:t>Szemléltető adatok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D78CC-53B8-4A31-B2FE-411FE4C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26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Javítás három lépésben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80992-AE57-402C-B1C6-370520A3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E7201-F27D-40FA-B4C5-95E5197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9E25BC-A3E5-4C82-89E8-81DB4CA0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194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Keresd meg a dátumot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B078A3-08D2-4304-8E91-FCF16226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29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6DC39-D712-4406-AE00-29EF4874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68A6A0-4C9E-4384-85AF-AE2F5FD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052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Nyisd meg és módosítsd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16078-8833-440B-9D98-4B570E3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760942-36CC-4BEE-B476-2C9BCC1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529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36D95-6D48-45D5-B36C-6355B606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910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Mentsd el — a statisztika frissül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C83A7C-5E9F-4CFB-AE8F-E5D810B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67350"/>
            <a:ext cx="2914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B4E1FE-8C03-4F6D-9A52-D81A56B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292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8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Részleges nap is kiegészíthető.</a:t>
            </a:r>
          </a:p>
        </p:txBody>
      </p:sp>
    </p:spTree>
    <p:extLst>
      <p:ext uri="{BB962C8B-B14F-4D97-AF65-F5344CB8AC3E}">
        <p14:creationId xmlns:p14="http://schemas.microsoft.com/office/powerpoint/2010/main" val="1242865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CB6504-375E-47B0-B63A-573CB2F0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79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havi és éves nézet azonnal újraszámolja az egyenleget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E259A-FAF9-4664-8CF5-210755F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D899E-4776-48FE-9477-BDAE61BC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B536C-E531-4581-BE92-F4B5D2D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D0C0C-BEBD-4677-803C-B6C6467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3105150" cy="37909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7E9B2-201B-46DD-951C-9DDABFE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695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E77C-352F-4ABC-88C3-A93FA0F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ÉVES EGYENLEG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45D03-CA1A-4901-B4C2-B271223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45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+ 14 óra 37 perc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EB5BB-ADB0-48B7-8BE2-DE7E198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kiválasztott év összesített túlórája.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742950" y="50673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A7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288CF-38B0-4C68-91ED-294474B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Módosítás után nincs külön frissítés: az érték újraszámolódik.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2FCCC-C9E0-41EC-9F4F-B88531B2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Havi egyenleg · szemléltető példa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229100" y="4191000"/>
            <a:ext cx="6743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07E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4514C-FDC5-4E51-BFBA-5CACEFA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62375"/>
            <a:ext cx="419100" cy="4286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45072-DE55-4691-9E60-39725DC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95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7D555-438A-479B-A902-B958EDA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Jan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1C6E0-B6E5-4807-AEA3-7ECD239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91000"/>
            <a:ext cx="4191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166AD-FBDD-4B0C-8AF7-A73F17F8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429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39726-D715-424F-8AE7-6E5B414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Feb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548BD-B127-4B64-9CF8-3FDCCE9F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19100" cy="7620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DA3CC-BA08-4667-BDD5-ACA8B36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623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611AF-5A9B-448C-A89A-D76A1204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Már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6DEB6-59E0-4654-8082-01800398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29063"/>
            <a:ext cx="419100" cy="261938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2EFED-8EEE-4006-8A81-930B771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2363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E3493-4A62-44D9-9DD8-E2A036AB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Ápr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24EA6-75D3-4756-B974-35A99BEB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14688"/>
            <a:ext cx="419100" cy="976313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F5388-EE82-43C9-8AA2-A1B4255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47988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FF7D8-6FD0-4FA5-A14B-D6E570BF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Máj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C9CE5-3E09-4E09-913B-417BAE8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071938"/>
            <a:ext cx="419100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FF3B0-5ED1-4EEB-9FA7-5ADE32A7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05238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FCC66-A0FD-4593-90CE-3F18AA6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Jún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62EE5-EF85-4222-A268-F92AC2AE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91000"/>
            <a:ext cx="419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93D877-3140-4005-B0E2-4703D08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243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1921F-8CA9-4A2B-A89D-461A5BA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Júl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198618-8B66-49CE-BFB3-A5C1289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0"/>
            <a:ext cx="419100" cy="5715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637DF1-81B1-4B29-9906-CD99EBEB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52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CCA7DE-DEB2-4F7B-8F37-AF6BAC33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8F38A7-D980-49E0-989B-CBDFC860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33750"/>
            <a:ext cx="419100" cy="8572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0F5CAF-BFDF-4D35-8B6E-7F15683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67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+36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679B68-6B5A-4585-96EE-3A8B089C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162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Szept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D199C8-F2AC-481C-83BF-8426866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62600"/>
            <a:ext cx="723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DB7B2A-C609-4EA1-A43B-03A8A86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86425"/>
            <a:ext cx="678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Zöld: többlet   ·   Piros: hiány   ·   A nézet hónap és év szerint váltható</a:t>
            </a:r>
          </a:p>
        </p:txBody>
      </p:sp>
    </p:spTree>
    <p:extLst>
      <p:ext uri="{BB962C8B-B14F-4D97-AF65-F5344CB8AC3E}">
        <p14:creationId xmlns:p14="http://schemas.microsoft.com/office/powerpoint/2010/main" val="1618834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17896-347C-4CDB-925C-983D1993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letöltött Excel egyben a visszatölthető sablon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6244F-0591-4C3E-919C-702E7F9B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9650-6097-4CBA-8DC3-782889DC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24328-07C7-46FC-B993-66DE1BCA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009650" y="2857500"/>
            <a:ext cx="9220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E1E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DBD08-DEF0-4896-9CCF-5D724113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BE924-AD94-4A19-ACF6-DE50247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F5A6D-4D02-4B90-B579-314B65A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257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7EBFD-9CDE-41D4-90DB-7C93ADE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" y="3667125"/>
            <a:ext cx="1924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Töltsd le az aktuális adatokat.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E52C5-21E7-47EB-A78C-65081B83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261B-F189-426D-8683-AA44E09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C0432-427C-4D12-9163-C40A1EE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57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Szerkesztés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55D5C-460E-4000-9F14-53629E42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67125"/>
            <a:ext cx="1924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első 8 oszlop módosítható.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0ED4C-A49E-4AAB-B83E-007A6D1B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0A241-ECE1-44A6-91C4-0E0CF2CC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5F61B-0253-46B9-B231-CD266712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57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00C53-5EE7-4019-B805-AC2DA0B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1924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Válaszd ki a módot és töltsd fel.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EA930-5F96-4FDA-88BB-DC3C6BCB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B8CC7-1B6F-49DB-B726-C0EA9458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7B332-94D6-4859-93AA-0B2EBF4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57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Ellenőrzés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48598-B694-4DA3-ABA7-E68F45C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67125"/>
            <a:ext cx="1924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számított mezők újrakészülnek.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9AAFC-671A-469B-BEE9-125986F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5219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C2E74-02F9-4D73-9200-88F22C7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Kihagyás · ajánlott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976A3-88AE-4CFC-A642-F6E82A9F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már létező dátumokat békén hagyja; csak az új napokat tölti be.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E9AB2-0408-41EC-B72E-A31506A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5372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5A5D2-1448-4511-8D71-8FA0240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17A0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17A00"/>
                </a:solidFill>
                <a:latin typeface="Aptos"/>
                <a:ea typeface="Aptos"/>
                <a:cs typeface="Aptos"/>
              </a:rPr>
              <a:t>Felülírás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73FBC-8299-4AF7-9597-A5DE256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95900"/>
            <a:ext cx="483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fájlban szereplő dátumok meglévő adatait is lecseréli. Hibás sor esetén semmi sem változik.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5F6C1-2F4D-43A6-A922-CF5BA73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import mindig az éppen belépett felhasználóhoz kerül · maximum 8 MB / 5000 bejegyzés</a:t>
            </a:r>
          </a:p>
        </p:txBody>
      </p:sp>
    </p:spTree>
    <p:extLst>
      <p:ext uri="{BB962C8B-B14F-4D97-AF65-F5344CB8AC3E}">
        <p14:creationId xmlns:p14="http://schemas.microsoft.com/office/powerpoint/2010/main" val="1256039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61938-0FAA-4B60-942D-79950A2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4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Az admin a felhasználói fiókokat és beosztásokat kezeli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812DE-9C49-4612-88A4-8E48BA24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90A9E-FDBE-470A-BABE-6475796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AB96B-56A1-4678-B7B3-80E2B1C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13152-A789-487F-A31C-A881CD47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70008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8D2DF-F96B-42D5-8C0B-760A7A1E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1EAA3-5AFA-4197-822A-18A7DBC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FELHASZNÁLÓKEZELÉS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4DFA7-283E-4EAD-95BD-FDAC7AAE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0291C-A866-4017-B78F-C4A7F63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Belépési név és megjelenő név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1D350-1808-4675-BE4F-1E78F2E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81350"/>
            <a:ext cx="604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Az admin mindkettőt módosíthatja.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1D61B-1573-4C52-991E-2DA769D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236F4-B716-4888-B441-148A95DD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5433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Jelszó visszaállítása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D3D6B-EBDF-45A2-A2C1-1148697F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604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beállított alapértelmezett jelszóra.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3DFE0-6F58-426A-891E-DA9EA4C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C67B6-1681-4134-AF4F-0081D5A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481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Aktiválás és letiltás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9A704-7254-4B88-B251-17F8FCA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591050"/>
            <a:ext cx="604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fiók adatai megmaradnak, a belépés szabályozható.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B23FC-CA47-45C7-9534-21CEB261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76CA7-0278-4963-807D-C2417F51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5300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Felhasználó törlése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48EBE-D4B7-4B9E-822B-7D4F6E02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95900"/>
            <a:ext cx="604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A fiók és a hozzá tartozó munkaidőadatok végleg eltűnnek.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632AD-9871-4984-8DFF-7357A46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952625"/>
            <a:ext cx="359092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CC155-23CD-4B1F-8622-50F23AC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09800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0">
            <a:solidFill>
              <a:srgbClr val="E9F6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49ABA-AAD4-40CD-A373-CC54C762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80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803A"/>
                </a:solidFill>
                <a:latin typeface="Aptos"/>
                <a:ea typeface="Aptos"/>
                <a:cs typeface="Aptos"/>
              </a:rPr>
              <a:t>BEOSZTÁS ÉS NAPTÁR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B0FAE-355C-4FBC-A700-8AF22E72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Felhasználónkénti heti rend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29B96-92F1-4292-8B1C-194E5B7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909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Elvárt óraszámok, alap érkezés és távozás, valamint hétvégi munkanapok.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31958-794F-4D81-9151-5B720D44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8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DCBF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CBF4"/>
                </a:solidFill>
                <a:latin typeface="Aptos"/>
                <a:ea typeface="Aptos"/>
                <a:cs typeface="Aptos"/>
              </a:rPr>
              <a:t>Naptári kivételek és áthelyezések is kezelhetők.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7FE17-79B4-4885-8BF7-D0E952F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38675"/>
            <a:ext cx="35909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0">
            <a:solidFill>
              <a:srgbClr val="FDEC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C8A3E-5898-40C2-8F04-3417233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672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Törlés előtt ellenőrzés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5AD55-CFA5-4A75-AFE8-152F8CFD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38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1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A teljes felhasználótörlés nem vonható vissza. Célszerű előtte Excel-exportot készíteni.</a:t>
            </a:r>
          </a:p>
        </p:txBody>
      </p:sp>
    </p:spTree>
    <p:extLst>
      <p:ext uri="{BB962C8B-B14F-4D97-AF65-F5344CB8AC3E}">
        <p14:creationId xmlns:p14="http://schemas.microsoft.com/office/powerpoint/2010/main" val="536618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95C56-B06A-4D93-BFCB-6C0B441A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2332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B2332"/>
                </a:solidFill>
                <a:latin typeface="Aptos"/>
                <a:ea typeface="Aptos"/>
                <a:cs typeface="Aptos"/>
              </a:rPr>
              <a:t>A legegyszerűbb napi rutin négy lépés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B7B26-77AB-41A7-AC92-7D609B7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45A73"/>
                </a:solidFill>
                <a:latin typeface="Aptos"/>
                <a:ea typeface="Aptos"/>
                <a:cs typeface="Aptos"/>
              </a:rPr>
              <a:t>MUNKAIDŐ-NYILVÁNTARTÓ · FELHASZNÁLÓI ÚTMUTATÓ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4B69-62F9-4B08-AD92-8433073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3C078-8661-42BC-A7C4-E2636A0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AC4CA-7CD6-42DF-8D09-73E8549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07FD-15EA-4D80-A01D-6FFD52C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18F4A-7655-4FF2-A867-56E0FFFB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533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E1562-8B1E-441A-B964-DACDE7ED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Érkezés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77D3C-7D59-4638-9E7B-FD7708D4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Megérkeztem most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7C7F3-92FD-4D49-BF83-5ADAF0BF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6E1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6E1E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74196-C670-4880-BD4E-349B921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73FF5-8C0B-4838-A86B-787D8AE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3BF54-0288-4197-B634-9774EDE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33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9F3BD-AD2E-4742-87E9-108ED90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099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Napközben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F2ABD-5535-4312-B952-5782604C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1000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Kiszaladok / Visszaértem, ha szükséges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566A9-5C3A-4B2D-8F05-3E61D0C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6E1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6E1E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AEA26-50AA-4232-84BF-0855C149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8F56E-34B9-4F0E-BF36-211BE5E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3"/>
          </a:solidFill>
          <a:ln xmlns:a="http://schemas.openxmlformats.org/drawingml/2006/main" w="0">
            <a:solidFill>
              <a:srgbClr val="245A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50C5F-44D2-4801-9E3C-4EEEDD4A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33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0AFB8-59BD-49FB-9BD1-5065E6D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99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Távozás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586F6-933B-4D66-93A3-060F470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000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Távoztam most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04BFA-CD46-4137-9580-4820DA4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718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6E1E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6E1E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1B781-7AF4-4748-ADE2-477BA72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9525">
            <a:solidFill>
              <a:srgbClr val="D6E1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5B8C9-0EE4-4B5D-BDFE-ED223FE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495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3A"/>
          </a:solidFill>
          <a:ln xmlns:a="http://schemas.openxmlformats.org/drawingml/2006/main" w="0">
            <a:solidFill>
              <a:srgbClr val="1680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EFA74-2A05-442E-A31E-ACE79C22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33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7AC72-D8AB-4329-AF1B-D1B06B31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A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A3A"/>
                </a:solidFill>
                <a:latin typeface="Aptos"/>
                <a:ea typeface="Aptos"/>
                <a:cs typeface="Aptos"/>
              </a:rPr>
              <a:t>Ellenőrzés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DDED4-6016-4CFD-BFC8-5599390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707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8707E"/>
                </a:solidFill>
                <a:latin typeface="Aptos"/>
                <a:ea typeface="Aptos"/>
                <a:cs typeface="Aptos"/>
              </a:rPr>
              <a:t>Statisztika vagy Excel, amikor szükséges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038F4-59E8-4134-AF5C-FA4C75B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0496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2332"/>
          </a:solidFill>
          <a:ln xmlns:a="http://schemas.openxmlformats.org/drawingml/2006/main" w="0">
            <a:solidFill>
              <a:srgbClr val="0B23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0F5D8-D19E-4733-B65A-52A97448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03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 valami kimaradt: Előzmények vagy heti pótlás.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0171B-328D-45FE-8455-F9A1D58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362575"/>
            <a:ext cx="161925" cy="704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0898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2026-09-05T18:29:57.9600000Z</dcterms:created>
  <dcterms:modified xsi:type="dcterms:W3CDTF">2026-09-05T18:29:57.9600000Z</dcterms:modified>
</coreProperties>
</file>